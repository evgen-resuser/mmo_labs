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03"/>
  </p:normalViewPr>
  <p:slideViewPr>
    <p:cSldViewPr snapToGrid="0">
      <p:cViewPr varScale="1">
        <p:scale>
          <a:sx n="126" d="100"/>
          <a:sy n="126" d="100"/>
        </p:scale>
        <p:origin x="2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EC883D-52D5-F564-F18B-03B5B9C85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418BF2C-9971-D438-5E85-14586855C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4276B5-F502-4AE2-C937-7554BA06F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36F4-EC2C-4442-A9C4-B2D5B9F2B6A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A136D7-2A5C-6CA6-6E51-5B37C6A7F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E66334-F030-3EF4-13C3-36DD9A0B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8D4C-4B8C-7F4D-AB3F-340D44DF6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84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0A0C8-B074-9768-E7B6-44A4D4408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3BC314-5C83-7F70-300C-0B281ED91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DC9A88-9C19-8A1B-1D58-700C6BCBC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36F4-EC2C-4442-A9C4-B2D5B9F2B6A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D000CA-8D42-75B5-6855-764835933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0B69A4-A759-201E-5E7C-9676D4A3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8D4C-4B8C-7F4D-AB3F-340D44DF6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241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FE5B4D-C0AC-8E39-448A-0E7F25C6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D4419D-ED49-0ED6-93A3-A74CE9B55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282762-BEE7-2E4E-DA91-B920CE84E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36F4-EC2C-4442-A9C4-B2D5B9F2B6A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21408B-5B9E-4608-4DB5-CD8051016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AC93C6-137E-6B85-701D-112188A69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8D4C-4B8C-7F4D-AB3F-340D44DF6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6017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AFFD64-9D31-799F-8612-F058345FA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07C5E4-768B-FD74-44AB-58C779D772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7DA0AB-786C-71DA-3CD8-E32914C41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A15DA5-88E5-D720-8166-2EC1E8D3B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36F4-EC2C-4442-A9C4-B2D5B9F2B6A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F00679-44DF-D489-C96D-2BD39C373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7A5AF3-6D47-F1B2-7050-F590FA0B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8D4C-4B8C-7F4D-AB3F-340D44DF6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707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6987C4-16AD-5FE0-0600-4775112B1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A349DB-66F6-C741-FC5A-9C578BCEF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A304E48-184C-8A5D-A52A-DF91A72F8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2FD8D57-CE65-A5F2-EBE2-B8BA2AD982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0236E41-0C51-E4C5-BFCE-14FA9E3AA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F8479C6-CE57-2373-BFDA-6B9A68B7D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36F4-EC2C-4442-A9C4-B2D5B9F2B6A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32FCE01-7E91-D4C9-4FC2-2DC150BBC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CA811D0-866D-149B-7949-B87EF3397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8D4C-4B8C-7F4D-AB3F-340D44DF6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753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E4D766-DC2F-F00C-9EB8-13195DAED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995E22-4FF7-B87B-79BE-7E60D9D64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36F4-EC2C-4442-A9C4-B2D5B9F2B6A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316AC16-12E9-2944-21C5-A3585613C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8E3D43-6DAE-0ADE-7948-340A7B44F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8D4C-4B8C-7F4D-AB3F-340D44DF6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532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10586BA-7424-CDEF-BE21-76768CF28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36F4-EC2C-4442-A9C4-B2D5B9F2B6A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B9A85B9-B057-F277-D4DC-11E9D9E28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791D4B-7871-2528-10C0-5298C70F7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8D4C-4B8C-7F4D-AB3F-340D44DF6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997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B4DE2D-F107-D0D5-EEDD-53CE3DBB2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8B8269-9097-8527-4080-CC30550E3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93B9B2-CD4F-F370-EAAA-2D6DBC87E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E34B7B-84CF-DE45-1083-B850138D7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36F4-EC2C-4442-A9C4-B2D5B9F2B6A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88CA8F-4F20-6427-798A-B1360B2F5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B79204-D02E-45A1-4A91-2A3AF062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8D4C-4B8C-7F4D-AB3F-340D44DF6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9858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B3D2E2-AC64-C1AF-4177-27761039F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FE00CB8-1198-E627-0D67-0A56E3202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2D4248D-303C-C766-B4CA-9642F9729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1170F0-9098-A31C-11AD-F70D862BB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36F4-EC2C-4442-A9C4-B2D5B9F2B6A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99D403-87D9-33B7-05A1-00B9F7748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DC2239-5A55-F911-B9F2-3BB67FD8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8D4C-4B8C-7F4D-AB3F-340D44DF6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381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5B7587-660B-A288-14E7-056E9BFF2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FAACAA-C5D0-A1C6-E78D-F81785229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F86A4A-7CAD-07AA-3FD4-4F13B1541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36F4-EC2C-4442-A9C4-B2D5B9F2B6A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F9B7D7-288E-9146-38DA-BE22351E9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5C39AA-A85A-1E28-EFB3-76611FA5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8D4C-4B8C-7F4D-AB3F-340D44DF6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711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92D51FB-3AA6-5FF5-99B8-02103A4106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EE659D3-EFCB-57AF-D41E-D4D7B5E71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34E813-4D31-704B-EC96-06F633622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36F4-EC2C-4442-A9C4-B2D5B9F2B6A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DB57C1-1AA1-1621-2B17-0855126A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071C83-2DDB-D1A0-8F09-44E08E49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8D4C-4B8C-7F4D-AB3F-340D44DF6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245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960F4-5C76-3B31-937E-70B552568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0F3516-8C25-628E-85E3-4216BF92C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4770BE-A558-A329-0295-8351B1DDD8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A236F4-EC2C-4442-A9C4-B2D5B9F2B6A4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AC251D-FAEE-0C37-D902-99A39931F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2DD6CB-4166-1EF4-D4DA-3E35FB389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18D4C-4B8C-7F4D-AB3F-340D44DF6A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475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D0149A-554B-80A8-1BFF-147997F895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Методы оптимизации </a:t>
            </a:r>
            <a:r>
              <a:rPr lang="en-US" dirty="0"/>
              <a:t>KNN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FCFB98-E8D5-17CE-C7F5-60D7A7B3CA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Подготовил: Сыроежкин Евгений, 25222 гр.</a:t>
            </a:r>
          </a:p>
        </p:txBody>
      </p:sp>
    </p:spTree>
    <p:extLst>
      <p:ext uri="{BB962C8B-B14F-4D97-AF65-F5344CB8AC3E}">
        <p14:creationId xmlns:p14="http://schemas.microsoft.com/office/powerpoint/2010/main" val="134363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B095D-AB8E-D2ED-6386-7992395A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Вспомним что такое </a:t>
            </a:r>
            <a:r>
              <a:rPr lang="en-US" dirty="0"/>
              <a:t>KNN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13D8C5-14F7-54E9-C849-030AEABE0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747963"/>
          </a:xfrm>
        </p:spPr>
        <p:txBody>
          <a:bodyPr anchor="ctr"/>
          <a:lstStyle/>
          <a:p>
            <a:pPr marL="0" indent="0">
              <a:buNone/>
            </a:pPr>
            <a:r>
              <a:rPr lang="en" b="1" dirty="0"/>
              <a:t>KNN (k-Nearest Neighbors)</a:t>
            </a:r>
            <a:r>
              <a:rPr lang="en" dirty="0"/>
              <a:t> — </a:t>
            </a:r>
            <a:r>
              <a:rPr lang="ru-RU" dirty="0"/>
              <a:t>это алгоритм машинного обучения для классификации и регрессии.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Идея: объект получает метку на основе ближайших к нему объектов из обучающей выборки.</a:t>
            </a:r>
          </a:p>
          <a:p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CCC5A6-E76A-815A-E261-39BE4D673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028" y="4094984"/>
            <a:ext cx="7053943" cy="214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384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E6DEE5-D055-0253-B70E-CC3AB3A5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Шаги алгоритма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1D740A-1C54-542F-51CA-B72C5AE5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ru-RU" dirty="0"/>
              <a:t>Выбрать число соседей </a:t>
            </a:r>
            <a:r>
              <a:rPr lang="en" dirty="0"/>
              <a:t>k </a:t>
            </a:r>
          </a:p>
          <a:p>
            <a:pPr>
              <a:buFont typeface="+mj-lt"/>
              <a:buAutoNum type="arabicPeriod"/>
            </a:pPr>
            <a:r>
              <a:rPr lang="ru-RU" dirty="0"/>
              <a:t>Посчитать расстояние от нового объекта до всех объектов обучающей выборки </a:t>
            </a:r>
          </a:p>
          <a:p>
            <a:pPr>
              <a:buFont typeface="+mj-lt"/>
              <a:buAutoNum type="arabicPeriod"/>
            </a:pPr>
            <a:r>
              <a:rPr lang="ru-RU" dirty="0"/>
              <a:t>Найти </a:t>
            </a:r>
            <a:r>
              <a:rPr lang="en" dirty="0"/>
              <a:t>k </a:t>
            </a:r>
            <a:r>
              <a:rPr lang="ru-RU" dirty="0"/>
              <a:t>ближайших </a:t>
            </a:r>
          </a:p>
          <a:p>
            <a:pPr>
              <a:buFont typeface="+mj-lt"/>
              <a:buAutoNum type="arabicPeriod"/>
            </a:pPr>
            <a:r>
              <a:rPr lang="ru-RU" dirty="0"/>
              <a:t>Принять решение: 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Если это задача классификации, то голосование 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Регрессия</a:t>
            </a:r>
            <a:r>
              <a:rPr lang="en-US" dirty="0"/>
              <a:t>?</a:t>
            </a:r>
            <a:r>
              <a:rPr lang="ru-RU" dirty="0"/>
              <a:t> </a:t>
            </a:r>
            <a:r>
              <a:rPr lang="en-US" dirty="0"/>
              <a:t>C</a:t>
            </a:r>
            <a:r>
              <a:rPr lang="ru-RU" dirty="0" err="1"/>
              <a:t>реднее</a:t>
            </a:r>
            <a:r>
              <a:rPr lang="ru-RU" dirty="0"/>
              <a:t> значение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549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7317A6-D0A7-7DF2-A199-2370DF69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Минусы стандартного </a:t>
            </a:r>
            <a:r>
              <a:rPr lang="en-US" b="1" dirty="0"/>
              <a:t>KNN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3ADE6-19CF-061E-0B0C-EBEE2CE35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Для каждого нового объекта нужно сравнивать его со ВСЕМИ объектами.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 больших размерностях расстояния становятся менее информативными.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Алгоритм требует нормализации данных.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Поэтому были созданы различные модификации этого алгоритма.</a:t>
            </a:r>
          </a:p>
        </p:txBody>
      </p:sp>
    </p:spTree>
    <p:extLst>
      <p:ext uri="{BB962C8B-B14F-4D97-AF65-F5344CB8AC3E}">
        <p14:creationId xmlns:p14="http://schemas.microsoft.com/office/powerpoint/2010/main" val="2555598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F44029-921A-B270-F0E2-9DF731B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KD-Tree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8EF3C6-1BAC-BC0A-4F20-6D1BC2FE7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Идея: </a:t>
            </a:r>
            <a:r>
              <a:rPr lang="ru-RU" dirty="0"/>
              <a:t>вместо полного перебора данные организуются в бинарное дерево по координатам.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" b="1" dirty="0"/>
              <a:t>KD-Tree</a:t>
            </a:r>
            <a:r>
              <a:rPr lang="en" dirty="0"/>
              <a:t> — </a:t>
            </a:r>
            <a:r>
              <a:rPr lang="ru-RU" dirty="0"/>
              <a:t>это бинарное дерево для хранения точек в </a:t>
            </a:r>
            <a:r>
              <a:rPr lang="en" dirty="0"/>
              <a:t>k-</a:t>
            </a:r>
            <a:r>
              <a:rPr lang="ru-RU" dirty="0"/>
              <a:t>мерном пространстве. Оно позволяет быстро искать ближайших соседей. Вместо полного перебора всех точек пространство рекурсивно делится гиперплоскостями. </a:t>
            </a:r>
          </a:p>
          <a:p>
            <a:pPr marL="0" indent="0">
              <a:buNone/>
            </a:pPr>
            <a:r>
              <a:rPr lang="ru-RU" dirty="0"/>
              <a:t>Для 2</a:t>
            </a:r>
            <a:r>
              <a:rPr lang="en" dirty="0"/>
              <a:t>D:</a:t>
            </a:r>
            <a:r>
              <a:rPr lang="ru-RU" dirty="0"/>
              <a:t> сначала делим по </a:t>
            </a:r>
            <a:r>
              <a:rPr lang="en" b="1" dirty="0"/>
              <a:t>x</a:t>
            </a:r>
            <a:r>
              <a:rPr lang="en" dirty="0"/>
              <a:t>, </a:t>
            </a:r>
            <a:r>
              <a:rPr lang="ru-RU" dirty="0"/>
              <a:t>потом по </a:t>
            </a:r>
            <a:r>
              <a:rPr lang="en" b="1" dirty="0"/>
              <a:t>y</a:t>
            </a:r>
            <a:r>
              <a:rPr lang="en" dirty="0"/>
              <a:t>, </a:t>
            </a:r>
            <a:r>
              <a:rPr lang="ru-RU" dirty="0"/>
              <a:t>потом снова по </a:t>
            </a:r>
            <a:r>
              <a:rPr lang="en" b="1" dirty="0"/>
              <a:t>x</a:t>
            </a:r>
            <a:r>
              <a:rPr lang="ru-RU" dirty="0"/>
              <a:t> и так далее.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8727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70DE558-CBB5-E55C-F5A8-A35CEEA56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14" y="1253331"/>
            <a:ext cx="6760029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/>
              <a:t>Первый шаг</a:t>
            </a:r>
            <a:r>
              <a:rPr lang="ru-RU" dirty="0"/>
              <a:t>: выбираем ось X (так как </a:t>
            </a:r>
            <a:r>
              <a:rPr lang="ru-RU" dirty="0" err="1"/>
              <a:t>k</a:t>
            </a:r>
            <a:r>
              <a:rPr lang="ru-RU" dirty="0"/>
              <a:t>=2, начинаем с первой оси). Находим медиану по X-координате среди всех точек. Упорядочим точки по X: </a:t>
            </a:r>
            <a:r>
              <a:rPr lang="ru-RU" dirty="0" err="1"/>
              <a:t>A</a:t>
            </a:r>
            <a:r>
              <a:rPr lang="ru-RU" dirty="0"/>
              <a:t>(2), </a:t>
            </a:r>
            <a:r>
              <a:rPr lang="ru-RU" dirty="0" err="1"/>
              <a:t>D</a:t>
            </a:r>
            <a:r>
              <a:rPr lang="ru-RU" dirty="0"/>
              <a:t>(4), </a:t>
            </a:r>
            <a:r>
              <a:rPr lang="ru-RU" dirty="0" err="1"/>
              <a:t>B</a:t>
            </a:r>
            <a:r>
              <a:rPr lang="ru-RU" dirty="0"/>
              <a:t>(5), </a:t>
            </a:r>
            <a:r>
              <a:rPr lang="ru-RU" dirty="0" err="1"/>
              <a:t>F</a:t>
            </a:r>
            <a:r>
              <a:rPr lang="ru-RU" dirty="0"/>
              <a:t>(7), </a:t>
            </a:r>
            <a:r>
              <a:rPr lang="ru-RU" dirty="0" err="1"/>
              <a:t>E</a:t>
            </a:r>
            <a:r>
              <a:rPr lang="ru-RU" dirty="0"/>
              <a:t>(8), </a:t>
            </a:r>
            <a:r>
              <a:rPr lang="ru-RU" dirty="0" err="1"/>
              <a:t>C</a:t>
            </a:r>
            <a:r>
              <a:rPr lang="ru-RU" dirty="0"/>
              <a:t>(9). </a:t>
            </a:r>
          </a:p>
          <a:p>
            <a:pPr marL="0" indent="0">
              <a:buNone/>
            </a:pPr>
            <a:r>
              <a:rPr lang="ru-RU" dirty="0"/>
              <a:t>Медиана — это </a:t>
            </a:r>
            <a:r>
              <a:rPr lang="ru-RU" dirty="0" err="1"/>
              <a:t>B</a:t>
            </a:r>
            <a:r>
              <a:rPr lang="ru-RU" dirty="0"/>
              <a:t>(5,4) или </a:t>
            </a:r>
            <a:r>
              <a:rPr lang="ru-RU" dirty="0" err="1"/>
              <a:t>F</a:t>
            </a:r>
            <a:r>
              <a:rPr lang="ru-RU" dirty="0"/>
              <a:t>(7,2). </a:t>
            </a:r>
          </a:p>
          <a:p>
            <a:pPr marL="0" indent="0">
              <a:buNone/>
            </a:pPr>
            <a:r>
              <a:rPr lang="ru-RU" dirty="0"/>
              <a:t>Допустим, берем </a:t>
            </a:r>
            <a:r>
              <a:rPr lang="ru-RU" dirty="0" err="1"/>
              <a:t>B</a:t>
            </a:r>
            <a:r>
              <a:rPr lang="ru-RU" dirty="0"/>
              <a:t>(5,4). Проводим вертикальную линию через </a:t>
            </a:r>
            <a:r>
              <a:rPr lang="ru-RU" dirty="0" err="1"/>
              <a:t>x</a:t>
            </a:r>
            <a:r>
              <a:rPr lang="ru-RU" dirty="0"/>
              <a:t>=5. Эта точка (</a:t>
            </a:r>
            <a:r>
              <a:rPr lang="ru-RU" dirty="0" err="1"/>
              <a:t>B</a:t>
            </a:r>
            <a:r>
              <a:rPr lang="ru-RU" dirty="0"/>
              <a:t>) становится корнем дерева. Все точки с </a:t>
            </a:r>
            <a:r>
              <a:rPr lang="ru-RU" dirty="0" err="1"/>
              <a:t>x</a:t>
            </a:r>
            <a:r>
              <a:rPr lang="ru-RU" dirty="0"/>
              <a:t>&lt;5 идут в левое поддерево (</a:t>
            </a:r>
            <a:r>
              <a:rPr lang="ru-RU" dirty="0" err="1"/>
              <a:t>A</a:t>
            </a:r>
            <a:r>
              <a:rPr lang="ru-RU" dirty="0"/>
              <a:t>, </a:t>
            </a:r>
            <a:r>
              <a:rPr lang="ru-RU" dirty="0" err="1"/>
              <a:t>D</a:t>
            </a:r>
            <a:r>
              <a:rPr lang="ru-RU" dirty="0"/>
              <a:t>). Все точки с </a:t>
            </a:r>
            <a:r>
              <a:rPr lang="ru-RU" dirty="0" err="1"/>
              <a:t>x</a:t>
            </a:r>
            <a:r>
              <a:rPr lang="ru-RU" dirty="0"/>
              <a:t>&gt;5 идут в правое поддерево (</a:t>
            </a:r>
            <a:r>
              <a:rPr lang="ru-RU" dirty="0" err="1"/>
              <a:t>C</a:t>
            </a:r>
            <a:r>
              <a:rPr lang="ru-RU" dirty="0"/>
              <a:t>, </a:t>
            </a:r>
            <a:r>
              <a:rPr lang="ru-RU" dirty="0" err="1"/>
              <a:t>E</a:t>
            </a:r>
            <a:r>
              <a:rPr lang="ru-RU" dirty="0"/>
              <a:t>, </a:t>
            </a:r>
            <a:r>
              <a:rPr lang="ru-RU" dirty="0" err="1"/>
              <a:t>F</a:t>
            </a:r>
            <a:r>
              <a:rPr lang="ru-RU" dirty="0"/>
              <a:t>).</a:t>
            </a:r>
          </a:p>
          <a:p>
            <a:endParaRPr lang="ru-RU" dirty="0"/>
          </a:p>
        </p:txBody>
      </p:sp>
      <p:pic>
        <p:nvPicPr>
          <p:cNvPr id="5" name="Рисунок 4" descr="Изображение выглядит как круг, диаграмма, линия, 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F1973AB-B900-983F-9749-765364109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756" y="2425839"/>
            <a:ext cx="2915558" cy="179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991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8DF0C36-84A4-C998-65E6-1402275BB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14" y="1253331"/>
            <a:ext cx="550817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effectLst/>
                <a:ea typeface="Times New Roman" panose="02020603050405020304" pitchFamily="18" charset="0"/>
              </a:rPr>
              <a:t>Второй шаг (левое поддерево):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 теперь работаем с точками </a:t>
            </a:r>
            <a:r>
              <a:rPr lang="ru-RU" sz="2400" dirty="0" err="1">
                <a:effectLst/>
                <a:ea typeface="Times New Roman" panose="02020603050405020304" pitchFamily="18" charset="0"/>
              </a:rPr>
              <a:t>A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(2,3) и </a:t>
            </a:r>
            <a:r>
              <a:rPr lang="ru-RU" sz="2400" dirty="0" err="1">
                <a:effectLst/>
                <a:ea typeface="Times New Roman" panose="02020603050405020304" pitchFamily="18" charset="0"/>
              </a:rPr>
              <a:t>D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(4,7). Меняем ось на </a:t>
            </a:r>
            <a:r>
              <a:rPr lang="ru-RU" sz="2400" dirty="0" err="1">
                <a:effectLst/>
                <a:ea typeface="Times New Roman" panose="02020603050405020304" pitchFamily="18" charset="0"/>
              </a:rPr>
              <a:t>Y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. Находим медиану по </a:t>
            </a:r>
            <a:r>
              <a:rPr lang="ru-RU" sz="2400" dirty="0" err="1">
                <a:effectLst/>
                <a:ea typeface="Times New Roman" panose="02020603050405020304" pitchFamily="18" charset="0"/>
              </a:rPr>
              <a:t>Y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. Упорядочим: </a:t>
            </a:r>
            <a:r>
              <a:rPr lang="ru-RU" sz="2400" dirty="0" err="1">
                <a:effectLst/>
                <a:ea typeface="Times New Roman" panose="02020603050405020304" pitchFamily="18" charset="0"/>
              </a:rPr>
              <a:t>A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(3), </a:t>
            </a:r>
            <a:r>
              <a:rPr lang="ru-RU" sz="2400" dirty="0" err="1">
                <a:effectLst/>
                <a:ea typeface="Times New Roman" panose="02020603050405020304" pitchFamily="18" charset="0"/>
              </a:rPr>
              <a:t>D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(7). 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effectLst/>
                <a:ea typeface="Times New Roman" panose="02020603050405020304" pitchFamily="18" charset="0"/>
              </a:rPr>
              <a:t>Медиана — это, например, </a:t>
            </a:r>
            <a:r>
              <a:rPr lang="ru-RU" sz="2400" dirty="0" err="1">
                <a:effectLst/>
                <a:ea typeface="Times New Roman" panose="02020603050405020304" pitchFamily="18" charset="0"/>
              </a:rPr>
              <a:t>D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(4,7). 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effectLst/>
                <a:ea typeface="Times New Roman" panose="02020603050405020304" pitchFamily="18" charset="0"/>
              </a:rPr>
              <a:t>Проводим горизонтальную линию через </a:t>
            </a:r>
            <a:r>
              <a:rPr lang="ru-RU" sz="2400" dirty="0" err="1">
                <a:effectLst/>
                <a:ea typeface="Times New Roman" panose="02020603050405020304" pitchFamily="18" charset="0"/>
              </a:rPr>
              <a:t>y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=7. </a:t>
            </a:r>
            <a:r>
              <a:rPr lang="ru-RU" sz="2400" dirty="0" err="1">
                <a:effectLst/>
                <a:ea typeface="Times New Roman" panose="02020603050405020304" pitchFamily="18" charset="0"/>
              </a:rPr>
              <a:t>D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 становится узлом. Точки с </a:t>
            </a:r>
            <a:r>
              <a:rPr lang="ru-RU" sz="2400" dirty="0" err="1">
                <a:effectLst/>
                <a:ea typeface="Times New Roman" panose="02020603050405020304" pitchFamily="18" charset="0"/>
              </a:rPr>
              <a:t>y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&lt;7 (</a:t>
            </a:r>
            <a:r>
              <a:rPr lang="ru-RU" sz="2400" dirty="0" err="1">
                <a:effectLst/>
                <a:ea typeface="Times New Roman" panose="02020603050405020304" pitchFamily="18" charset="0"/>
              </a:rPr>
              <a:t>A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) идут в левое поддерево от </a:t>
            </a:r>
            <a:r>
              <a:rPr lang="ru-RU" sz="2400" dirty="0" err="1">
                <a:effectLst/>
                <a:ea typeface="Times New Roman" panose="02020603050405020304" pitchFamily="18" charset="0"/>
              </a:rPr>
              <a:t>D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. Точек с </a:t>
            </a:r>
            <a:r>
              <a:rPr lang="ru-RU" sz="2400" dirty="0" err="1">
                <a:effectLst/>
                <a:ea typeface="Times New Roman" panose="02020603050405020304" pitchFamily="18" charset="0"/>
              </a:rPr>
              <a:t>y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&gt;7 нет.</a:t>
            </a:r>
          </a:p>
          <a:p>
            <a:pPr marL="0" indent="0">
              <a:buNone/>
            </a:pPr>
            <a:r>
              <a:rPr lang="ru-RU" sz="2400" dirty="0">
                <a:effectLst/>
                <a:ea typeface="Times New Roman" panose="02020603050405020304" pitchFamily="18" charset="0"/>
              </a:rPr>
              <a:t>Аналогично строим правое поддерево, чередуя оси X и </a:t>
            </a:r>
            <a:r>
              <a:rPr lang="ru-RU" sz="2400" dirty="0" err="1">
                <a:effectLst/>
                <a:ea typeface="Times New Roman" panose="02020603050405020304" pitchFamily="18" charset="0"/>
              </a:rPr>
              <a:t>Y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u-RU" sz="3600" dirty="0"/>
          </a:p>
        </p:txBody>
      </p:sp>
      <p:pic>
        <p:nvPicPr>
          <p:cNvPr id="5" name="Рисунок 4" descr="Изображение выглядит как диаграмма, круг, линия, 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0BD5EDD-34B0-E083-8FF4-6B6EAFD8C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321" y="2199368"/>
            <a:ext cx="3836452" cy="245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95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EA0C96E-5ED2-2EA7-8CFB-F7D2AF708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42894"/>
            <a:ext cx="10515600" cy="1115106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В итоге пространство будет поделено на прямоугольные области.</a:t>
            </a:r>
          </a:p>
        </p:txBody>
      </p:sp>
      <p:pic>
        <p:nvPicPr>
          <p:cNvPr id="7" name="Рисунок 6" descr="Изображение выглядит как диаграмма, круг, линия, 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86B4801-0624-2E4A-2863-60F087FF9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00" y="1381927"/>
            <a:ext cx="4754336" cy="3047651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диаграмма, снимок экран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3FF8107-17B9-04BD-CD8D-4A17656AB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07340"/>
            <a:ext cx="5128985" cy="437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042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B88384-2609-0E53-9CEF-A26DBD7B4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теперь искать?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77200E-3816-86DB-FD7E-E015EE14B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При поиске в </a:t>
            </a:r>
            <a:r>
              <a:rPr lang="en" dirty="0"/>
              <a:t>KD-Tree </a:t>
            </a:r>
            <a:r>
              <a:rPr lang="ru-RU" dirty="0"/>
              <a:t>алгоритм спускается от корня дерева вниз, сравнивая координату точки с разделяющей плоскостью на каждом уровне. Сначала выбирается поддерево, в котором вероятнее находится ближайший сосед. Найденные ближайшие точки сохраняются в множестве из </a:t>
            </a:r>
            <a:r>
              <a:rPr lang="en" dirty="0"/>
              <a:t>k </a:t>
            </a:r>
            <a:r>
              <a:rPr lang="ru-RU" dirty="0"/>
              <a:t>соседей: если новая точка ближе самого далёкого соседа, она заменяет его.</a:t>
            </a:r>
          </a:p>
          <a:p>
            <a:pPr marL="0" indent="0">
              <a:buNone/>
            </a:pPr>
            <a:r>
              <a:rPr lang="ru-RU" dirty="0"/>
              <a:t>После обхода основной ветви алгоритм может вернуться и проверить вторую ветвь. Если расстояние от точки до разделяющей плоскости меньше, чем расстояние до текущего самого далёкого соседа, то в другой ветви потенциально могут быть более близкие точки, и её нужно рассмотреть. Иначе эта ветвь отсекается.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9516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058C9B-E1F7-BF8B-1A0B-F62B34BE1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Ball Tree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78894A-2C59-B6DF-C968-40B67E195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Идея: </a:t>
            </a:r>
            <a:r>
              <a:rPr lang="ru-RU" dirty="0"/>
              <a:t>данные группируются в «шары» (</a:t>
            </a:r>
            <a:r>
              <a:rPr lang="ru-RU" dirty="0" err="1"/>
              <a:t>гиперсферы</a:t>
            </a:r>
            <a:r>
              <a:rPr lang="ru-RU" dirty="0"/>
              <a:t>).</a:t>
            </a:r>
          </a:p>
          <a:p>
            <a:pPr marL="0" indent="0">
              <a:buNone/>
            </a:pPr>
            <a:r>
              <a:rPr lang="ru-RU" dirty="0"/>
              <a:t>Вместо </a:t>
            </a:r>
            <a:r>
              <a:rPr lang="en" dirty="0"/>
              <a:t>axis-aligned split (</a:t>
            </a:r>
            <a:r>
              <a:rPr lang="ru-RU" dirty="0"/>
              <a:t>как </a:t>
            </a:r>
            <a:r>
              <a:rPr lang="en" dirty="0"/>
              <a:t>KD-tree)</a:t>
            </a:r>
            <a:r>
              <a:rPr lang="ru-RU" dirty="0"/>
              <a:t>, используются области произвольной формы.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Лучше работает: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 высокой размерности,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на сложных распределениях.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8065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486BF8-BFCF-53C7-0517-F024EB1B4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действий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BFE316-6E42-9D8B-49F4-04EAFCFAC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ru-RU" b="1" dirty="0"/>
              <a:t>Шаг 1. </a:t>
            </a:r>
            <a:r>
              <a:rPr lang="ru-RU" dirty="0"/>
              <a:t>Отсортируем все точки по размерности с наибольшим разбросом значений. Для этого необходимо найти её. Дальше будем работать с этой размерностью.</a:t>
            </a:r>
          </a:p>
          <a:p>
            <a:r>
              <a:rPr lang="ru-RU" b="1" dirty="0"/>
              <a:t>Шаг 2.</a:t>
            </a:r>
            <a:r>
              <a:rPr lang="ru-RU" dirty="0"/>
              <a:t> Выберем так называемую точку - </a:t>
            </a:r>
            <a:r>
              <a:rPr lang="ru-RU" b="1" dirty="0" err="1"/>
              <a:t>центроид</a:t>
            </a:r>
            <a:r>
              <a:rPr lang="ru-RU" dirty="0"/>
              <a:t>. </a:t>
            </a:r>
            <a:r>
              <a:rPr lang="ru-RU" dirty="0" err="1"/>
              <a:t>Центроид</a:t>
            </a:r>
            <a:r>
              <a:rPr lang="ru-RU" dirty="0"/>
              <a:t> - это точка, которая находится примерно по середине множества точек, которое мы хотим объединить в один кластер. Для того, чтобы найти </a:t>
            </a:r>
            <a:r>
              <a:rPr lang="ru-RU" dirty="0" err="1"/>
              <a:t>центроид</a:t>
            </a:r>
            <a:r>
              <a:rPr lang="ru-RU" dirty="0"/>
              <a:t>, необходимо выбрать точку, у которой координата меньше всего отличается от среднего значения координат по всем точкам рассматриваемого множества вдоль найденной в первом шаге размерности.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4467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27056-E18E-E842-131A-72F3E619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Шаг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6FE347-D5F9-0DC3-54EC-AAD4CBD0C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Найдём радиус до самой дальней от </a:t>
            </a:r>
            <a:r>
              <a:rPr lang="ru-RU" dirty="0" err="1"/>
              <a:t>центроида</a:t>
            </a:r>
            <a:r>
              <a:rPr lang="ru-RU" dirty="0"/>
              <a:t> точки. Это радиус шара-кластера, который покроет всё множество точек (при первой итерации пункта).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4DA90DF-4D42-84DA-FE2A-9297C61C9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3286125"/>
            <a:ext cx="53848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 descr="Изображение выглядит как текст, круг, белый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D1AAAAB-BF7B-E85C-CB5F-15B60F8F3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580" y="4167505"/>
            <a:ext cx="805180" cy="80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91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8EF882-5515-3E00-14BF-90E12402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Шаг 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0BA710-B952-EDCF-5B14-4AAC5B582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219773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Множество всех точек разделилось на две части - до </a:t>
            </a:r>
            <a:r>
              <a:rPr lang="ru-RU" dirty="0" err="1"/>
              <a:t>центроида</a:t>
            </a:r>
            <a:r>
              <a:rPr lang="ru-RU" dirty="0"/>
              <a:t> и после </a:t>
            </a:r>
            <a:r>
              <a:rPr lang="ru-RU" dirty="0" err="1"/>
              <a:t>центроида</a:t>
            </a:r>
            <a:r>
              <a:rPr lang="ru-RU" dirty="0"/>
              <a:t>. Возвращаемся к пункту два, применяя его на первой, а далее второй половине множества. До тех пор, пока оставшиеся количество точек не будет меньше, чем </a:t>
            </a:r>
            <a:r>
              <a:rPr lang="en" b="1" dirty="0" err="1"/>
              <a:t>LeafSize</a:t>
            </a:r>
            <a:r>
              <a:rPr lang="en" dirty="0"/>
              <a:t>.</a:t>
            </a:r>
            <a:endParaRPr lang="ru-RU" dirty="0"/>
          </a:p>
        </p:txBody>
      </p:sp>
      <p:pic>
        <p:nvPicPr>
          <p:cNvPr id="5" name="Рисунок 4" descr="Изображение выглядит как круг, зарисовка, 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DF0D5B0-73D5-8784-2A9F-EDF6F851D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3987800"/>
            <a:ext cx="2994660" cy="199644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1C2EA2EA-CC3D-A615-6D0E-4926148E2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355340"/>
            <a:ext cx="53848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550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8168C81-147D-FB08-4233-67E34DDA4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2479"/>
            <a:ext cx="10515600" cy="4114483"/>
          </a:xfrm>
        </p:spPr>
        <p:txBody>
          <a:bodyPr/>
          <a:lstStyle/>
          <a:p>
            <a:r>
              <a:rPr lang="ru-RU" b="1" dirty="0"/>
              <a:t>Шаг 5. </a:t>
            </a:r>
            <a:r>
              <a:rPr lang="ru-RU" dirty="0"/>
              <a:t>Если осталось меньше, чем</a:t>
            </a:r>
            <a:r>
              <a:rPr lang="ru-RU" b="1" dirty="0"/>
              <a:t> </a:t>
            </a:r>
            <a:r>
              <a:rPr lang="en" b="1" dirty="0" err="1"/>
              <a:t>LeafSize</a:t>
            </a:r>
            <a:r>
              <a:rPr lang="en" b="1" dirty="0"/>
              <a:t> </a:t>
            </a:r>
            <a:r>
              <a:rPr lang="en" dirty="0"/>
              <a:t>(</a:t>
            </a:r>
            <a:r>
              <a:rPr lang="ru-RU" dirty="0"/>
              <a:t>размер листа)</a:t>
            </a:r>
            <a:r>
              <a:rPr lang="ru-RU" b="1" dirty="0"/>
              <a:t> </a:t>
            </a:r>
            <a:r>
              <a:rPr lang="ru-RU" dirty="0"/>
              <a:t>точек, то записываем их в лист и приписываем к шару, покрывающему эти точки.</a:t>
            </a:r>
          </a:p>
          <a:p>
            <a:r>
              <a:rPr lang="ru-RU" b="1" dirty="0"/>
              <a:t>Шаг 6. </a:t>
            </a:r>
            <a:r>
              <a:rPr lang="ru-RU" dirty="0"/>
              <a:t>Завершаем работу тогда, когда все точки распределены по листьям.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7563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DDE930-0133-7BFE-E845-B1B8B0C4D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теперь искать?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373CB9-1B1A-E43E-F242-FD6E5D991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 поиске в </a:t>
            </a:r>
            <a:r>
              <a:rPr lang="en" dirty="0"/>
              <a:t>Ball Tree </a:t>
            </a:r>
            <a:r>
              <a:rPr lang="ru-RU" dirty="0"/>
              <a:t>алгоритм спускается от корня дерева вниз. На каждой вершине решается, какой из шаров (поддеревьев) стоит рассматривать. Найденные ближайшие точки хранятся в множестве из </a:t>
            </a:r>
            <a:r>
              <a:rPr lang="en" dirty="0"/>
              <a:t>k </a:t>
            </a:r>
            <a:r>
              <a:rPr lang="ru-RU" dirty="0"/>
              <a:t>соседей: если новая точка ближе самого далёкого соседа, она заменяет его.</a:t>
            </a:r>
          </a:p>
          <a:p>
            <a:pPr marL="0" indent="0">
              <a:buNone/>
            </a:pPr>
            <a:r>
              <a:rPr lang="ru-RU" dirty="0"/>
              <a:t>Для отсечения лишних ветвей используется расстояние до границы шара. Если минимально возможное расстояние до шара больше, чем расстояние до текущего самого далёкого соседа, то этот шар можно не проверять — более близких точек в нём быть не может.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785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923C1F-CE92-703C-2722-861DE78B8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HNSW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8E5633-9A1C-14BC-48A5-CB9BF4FFA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2011 году был опубликован один из лучших алгоритмов поиска ближайших соседей </a:t>
            </a:r>
            <a:r>
              <a:rPr lang="en" dirty="0"/>
              <a:t>Navigable Small World (NSW). </a:t>
            </a:r>
            <a:r>
              <a:rPr lang="ru-RU" dirty="0"/>
              <a:t>В 2016-м появился его наследник </a:t>
            </a:r>
            <a:r>
              <a:rPr lang="en" dirty="0"/>
              <a:t>Hierarchical Navigable Small World (HNSW).</a:t>
            </a:r>
            <a:b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Начнем с родительского алгоритма NSW. Он основан на графе «мир тесен». Эти графы имеют любопытную и полезную нам особенность: пара вершин с большой вероятностью не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смежна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но они достижимы за сравнительно небольшое число шагов (</a:t>
            </a:r>
            <a:r>
              <a:rPr lang="en-US" altLang="ru-RU" dirty="0">
                <a:latin typeface="Arial" panose="020B0604020202020204" pitchFamily="34" charset="0"/>
              </a:rPr>
              <a:t>log N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 среднем). Такие графы встречаются довольно часто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dirty="0"/>
          </a:p>
        </p:txBody>
      </p:sp>
      <p:sp>
        <p:nvSpPr>
          <p:cNvPr id="7" name="AutoShape 4" descr="$\log{N}$">
            <a:extLst>
              <a:ext uri="{FF2B5EF4-FFF2-40B4-BE49-F238E27FC236}">
                <a16:creationId xmlns:a16="http://schemas.microsoft.com/office/drawing/2014/main" id="{B51BADD4-38E5-12A0-8498-01A0328796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114500" y="-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3289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5A6560A-8424-933C-5567-D7D02110A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425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Для поиска соседей мы обходим граф в поисках вершин с минимальным расстоянием до запроса. Начинаем со случайной вершины, считаем расстояние от </a:t>
            </a:r>
            <a:r>
              <a:rPr lang="ru-RU" dirty="0" err="1"/>
              <a:t>непосещенных</a:t>
            </a:r>
            <a:r>
              <a:rPr lang="ru-RU" dirty="0"/>
              <a:t> вершин «друзей» (вершин, соединенных с текущей ребром) до запроса и переходим в вершину с наименьшим расстоянием. Длинные ребра придают графу свойства тесного мира и позволяют быстро перемещаться в область близких к запросу объектов, а короткие — жадно искать ближайших соседей.</a:t>
            </a:r>
          </a:p>
          <a:p>
            <a:endParaRPr lang="ru-RU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5B94430-D59E-AFEA-F52A-E988A1C31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641302"/>
            <a:ext cx="6786880" cy="321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64A0CC-D309-9703-A8E4-73F1AD7B044B}"/>
              </a:ext>
            </a:extLst>
          </p:cNvPr>
          <p:cNvSpPr txBox="1"/>
          <p:nvPr/>
        </p:nvSpPr>
        <p:spPr>
          <a:xfrm>
            <a:off x="7716520" y="3529542"/>
            <a:ext cx="435356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По мере обхода графа обновляем небольшой список ближайших соседей и останавливаемся, если на очередной итерации список не обновился.</a:t>
            </a:r>
          </a:p>
        </p:txBody>
      </p:sp>
    </p:spTree>
    <p:extLst>
      <p:ext uri="{BB962C8B-B14F-4D97-AF65-F5344CB8AC3E}">
        <p14:creationId xmlns:p14="http://schemas.microsoft.com/office/powerpoint/2010/main" val="3550387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72C0CB0-1241-C371-E88F-19122500A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18440"/>
            <a:ext cx="5684520" cy="64211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Рассмотрим развитие описанной выше идеи в алгоритме </a:t>
            </a:r>
            <a:r>
              <a:rPr lang="en" dirty="0"/>
              <a:t>Hierarchical Navigable Small World (HNSW). </a:t>
            </a:r>
            <a:r>
              <a:rPr lang="ru-RU" dirty="0"/>
              <a:t>Он во многом схож с </a:t>
            </a:r>
            <a:r>
              <a:rPr lang="en" dirty="0"/>
              <a:t>NSW, </a:t>
            </a:r>
            <a:r>
              <a:rPr lang="ru-RU" dirty="0"/>
              <a:t>однако теперь мы имеем дело с иерархией графов: на нулевом слое представлены все объекты, а по мере увеличения слоя — все меньшая и меньшая их </a:t>
            </a:r>
            <a:r>
              <a:rPr lang="ru-RU" dirty="0" err="1"/>
              <a:t>подвыборка</a:t>
            </a:r>
            <a:r>
              <a:rPr lang="ru-RU" dirty="0"/>
              <a:t>. Причем все вершин на слое есть на предыдущем.</a:t>
            </a:r>
          </a:p>
          <a:p>
            <a:pPr marL="0" indent="0">
              <a:buNone/>
            </a:pPr>
            <a:r>
              <a:rPr lang="ru-RU" dirty="0"/>
              <a:t>При поиске старт происходит со случайной вершины в графе верхнего слоя, там мы быстро находим близкие к запросу вершины (кандидаты) и возобновляем поиск с них на предыдущем слое.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76B1A1C-290C-B80E-DAD1-9ADA2BCEA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0983" y="0"/>
            <a:ext cx="53482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1445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FDBF2-A3C2-007C-ECDA-D978C1751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 err="1"/>
              <a:t>FRiS</a:t>
            </a:r>
            <a:r>
              <a:rPr lang="en" dirty="0"/>
              <a:t>–Stolp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5D849E-2E65-BF48-CE1C-8A4F14DB6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" b="1" dirty="0" err="1"/>
              <a:t>FRiS</a:t>
            </a:r>
            <a:r>
              <a:rPr lang="en" b="1" dirty="0"/>
              <a:t>–Stolp</a:t>
            </a:r>
            <a:r>
              <a:rPr lang="en" dirty="0"/>
              <a:t> — </a:t>
            </a:r>
            <a:r>
              <a:rPr lang="ru-RU" dirty="0"/>
              <a:t>это алгоритм отбора прототипов (</a:t>
            </a:r>
            <a:r>
              <a:rPr lang="en" dirty="0"/>
              <a:t>prototype selection) </a:t>
            </a:r>
            <a:r>
              <a:rPr lang="ru-RU" dirty="0"/>
              <a:t>для задач классификации.</a:t>
            </a:r>
            <a:br>
              <a:rPr lang="ru-RU" dirty="0"/>
            </a:br>
            <a:r>
              <a:rPr lang="ru-RU" dirty="0"/>
              <a:t>Используется для уменьшения </a:t>
            </a:r>
            <a:r>
              <a:rPr lang="ru-RU" dirty="0" err="1"/>
              <a:t>датасета</a:t>
            </a:r>
            <a:r>
              <a:rPr lang="ru-RU" dirty="0"/>
              <a:t>, ускорения </a:t>
            </a:r>
            <a:r>
              <a:rPr lang="en" dirty="0" err="1"/>
              <a:t>kNN</a:t>
            </a:r>
            <a:r>
              <a:rPr lang="en" dirty="0"/>
              <a:t> </a:t>
            </a:r>
            <a:r>
              <a:rPr lang="ru-RU" dirty="0"/>
              <a:t>и повышения качества классификации.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Вместо того чтобы хранить все объекты, алгоритм выбирает несколько представителей (</a:t>
            </a:r>
            <a:r>
              <a:rPr lang="en" dirty="0" err="1"/>
              <a:t>stolps</a:t>
            </a:r>
            <a:r>
              <a:rPr lang="en" dirty="0"/>
              <a:t>) </a:t>
            </a:r>
            <a:r>
              <a:rPr lang="ru-RU" dirty="0"/>
              <a:t>для каждого класса.</a:t>
            </a:r>
            <a:r>
              <a:rPr lang="en-US" dirty="0"/>
              <a:t> </a:t>
            </a:r>
            <a:r>
              <a:rPr lang="ru-RU" dirty="0"/>
              <a:t>И классифицируем не по множеству соседей, а по ближайшему прототипу/столпу.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5654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97C7CF2-B338-B7AD-74CE-C3A597DAE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2345"/>
            <a:ext cx="10515600" cy="1059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Считаем для каждого объекта</a:t>
            </a:r>
          </a:p>
        </p:txBody>
      </p:sp>
      <p:pic>
        <p:nvPicPr>
          <p:cNvPr id="7" name="Рисунок 6" descr="Изображение выглядит как текст, Шрифт, чек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7A9DEA3-8ABE-E634-EDD9-941B7E44BA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333"/>
          <a:stretch/>
        </p:blipFill>
        <p:spPr>
          <a:xfrm>
            <a:off x="991870" y="1635760"/>
            <a:ext cx="7099300" cy="1991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60CA15-058D-72D4-5A9B-4C03BD076140}"/>
              </a:ext>
            </a:extLst>
          </p:cNvPr>
          <p:cNvSpPr txBox="1"/>
          <p:nvPr/>
        </p:nvSpPr>
        <p:spPr>
          <a:xfrm>
            <a:off x="1052830" y="4356576"/>
            <a:ext cx="103009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Тогда </a:t>
            </a:r>
            <a:r>
              <a:rPr lang="ru-RU" dirty="0"/>
              <a:t>выбираем столп</a:t>
            </a:r>
            <a:r>
              <a:rPr lang="en" dirty="0"/>
              <a:t> </a:t>
            </a:r>
            <a:r>
              <a:rPr lang="ru-RU" dirty="0"/>
              <a:t>с максимальным </a:t>
            </a:r>
            <a:r>
              <a:rPr lang="en" dirty="0" err="1"/>
              <a:t>FRiS</a:t>
            </a:r>
            <a:endParaRPr lang="ru-RU" dirty="0"/>
          </a:p>
          <a:p>
            <a:endParaRPr lang="en" dirty="0"/>
          </a:p>
          <a:p>
            <a:r>
              <a:rPr lang="ru-RU" dirty="0"/>
              <a:t>Это даёт: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лучшее поведение на границе классов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устойчивость к шуму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Ну и теперь при классификации нового объекта мы можем проделать обычный </a:t>
            </a:r>
            <a:r>
              <a:rPr lang="en-US" dirty="0"/>
              <a:t>KNN</a:t>
            </a:r>
            <a:r>
              <a:rPr lang="ru-RU" dirty="0"/>
              <a:t>, но уже не по всему </a:t>
            </a:r>
            <a:r>
              <a:rPr lang="ru-RU" dirty="0" err="1"/>
              <a:t>датасету</a:t>
            </a:r>
            <a:r>
              <a:rPr lang="ru-RU" dirty="0"/>
              <a:t>, а по более мелкому множеству столпов. </a:t>
            </a:r>
          </a:p>
        </p:txBody>
      </p:sp>
    </p:spTree>
    <p:extLst>
      <p:ext uri="{BB962C8B-B14F-4D97-AF65-F5344CB8AC3E}">
        <p14:creationId xmlns:p14="http://schemas.microsoft.com/office/powerpoint/2010/main" val="31684281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1229</Words>
  <Application>Microsoft Macintosh PowerPoint</Application>
  <PresentationFormat>Широкоэкранный</PresentationFormat>
  <Paragraphs>75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Times New Roman</vt:lpstr>
      <vt:lpstr>Тема Office</vt:lpstr>
      <vt:lpstr>Методы оптимизации KNN</vt:lpstr>
      <vt:lpstr>Вспомним что такое KNN</vt:lpstr>
      <vt:lpstr>Шаги алгоритма</vt:lpstr>
      <vt:lpstr>Минусы стандартного KNN</vt:lpstr>
      <vt:lpstr>KD-Tree</vt:lpstr>
      <vt:lpstr>Презентация PowerPoint</vt:lpstr>
      <vt:lpstr>Презентация PowerPoint</vt:lpstr>
      <vt:lpstr>Презентация PowerPoint</vt:lpstr>
      <vt:lpstr>Как теперь искать?</vt:lpstr>
      <vt:lpstr>Ball Tree</vt:lpstr>
      <vt:lpstr>Порядок действий </vt:lpstr>
      <vt:lpstr>Шаг 3</vt:lpstr>
      <vt:lpstr>Шаг 4</vt:lpstr>
      <vt:lpstr>Презентация PowerPoint</vt:lpstr>
      <vt:lpstr>Как теперь искать?</vt:lpstr>
      <vt:lpstr>HNSW</vt:lpstr>
      <vt:lpstr>Презентация PowerPoint</vt:lpstr>
      <vt:lpstr>Презентация PowerPoint</vt:lpstr>
      <vt:lpstr>FRiS–Stolp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Евгений Сыроежкин</dc:creator>
  <cp:lastModifiedBy>Евгений Сыроежкин</cp:lastModifiedBy>
  <cp:revision>5</cp:revision>
  <dcterms:created xsi:type="dcterms:W3CDTF">2026-05-24T10:29:43Z</dcterms:created>
  <dcterms:modified xsi:type="dcterms:W3CDTF">2026-05-24T13:20:32Z</dcterms:modified>
</cp:coreProperties>
</file>